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400050"/>
            <a:ext cx="1097280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F"/>
                </a:solidFill>
                <a:latin typeface="Aptos"/>
              </a:rPr>
              <a:t>Online Ticket Booking System — Current Architecture &amp; Problems</a:t>
            </a:r>
            <a:endParaRPr sz="2500" b="1">
              <a:solidFill>
                <a:srgbClr val="F8FA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42415"/>
            <a:ext cx="109728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B5C2DB"/>
                </a:solidFill>
                <a:latin typeface="Aptos"/>
              </a:rPr>
              <a:t>Flash-sale traffic turns a simple synchronous design into a scalability and consistency problem.</a:t>
            </a:r>
            <a:endParaRPr sz="1150" b="0">
              <a:solidFill>
                <a:srgbClr val="B5C2DB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5074920" cy="4553712"/>
          </a:xfrm>
          <a:prstGeom prst="roundRect">
            <a:avLst/>
          </a:prstGeom>
          <a:solidFill>
            <a:srgbClr val="162A4E"/>
          </a:solidFill>
          <a:ln>
            <a:solidFill>
              <a:srgbClr val="2E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64792"/>
            <a:ext cx="4389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E5ECF9"/>
                </a:solidFill>
                <a:latin typeface="Aptos"/>
              </a:rPr>
              <a:t>CURRENT SYNCHRONOUS ARCHITECTURE</a:t>
            </a:r>
            <a:endParaRPr sz="1100" b="1">
              <a:solidFill>
                <a:srgbClr val="E5ECF9"/>
              </a:solidFill>
              <a:latin typeface="Aptos"/>
            </a:endParaRPr>
          </a:p>
        </p:txBody>
      </p:sp>
      <p:sp>
        <p:nvSpPr>
          <p:cNvPr id="7" name="Oval 6"/>
          <p:cNvSpPr/>
          <p:nvPr/>
        </p:nvSpPr>
        <p:spPr>
          <a:xfrm>
            <a:off x="1078992" y="2212848"/>
            <a:ext cx="274320" cy="274320"/>
          </a:xfrm>
          <a:prstGeom prst="ellipse">
            <a:avLst/>
          </a:prstGeom>
          <a:solidFill>
            <a:srgbClr val="E5ECF9"/>
          </a:solidFill>
          <a:ln>
            <a:solidFill>
              <a:srgbClr val="E5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33271" y="2487168"/>
            <a:ext cx="365760" cy="256032"/>
          </a:xfrm>
          <a:prstGeom prst="roundRect">
            <a:avLst/>
          </a:prstGeom>
          <a:solidFill>
            <a:srgbClr val="E5ECF9"/>
          </a:solidFill>
          <a:ln>
            <a:solidFill>
              <a:srgbClr val="E5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37360" y="2212848"/>
            <a:ext cx="274320" cy="274320"/>
          </a:xfrm>
          <a:prstGeom prst="ellipse">
            <a:avLst/>
          </a:prstGeom>
          <a:solidFill>
            <a:srgbClr val="E5ECF9"/>
          </a:solidFill>
          <a:ln>
            <a:solidFill>
              <a:srgbClr val="E5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91639" y="2487168"/>
            <a:ext cx="365760" cy="256032"/>
          </a:xfrm>
          <a:prstGeom prst="roundRect">
            <a:avLst/>
          </a:prstGeom>
          <a:solidFill>
            <a:srgbClr val="E5ECF9"/>
          </a:solidFill>
          <a:ln>
            <a:solidFill>
              <a:srgbClr val="E5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95728" y="2212848"/>
            <a:ext cx="274320" cy="274320"/>
          </a:xfrm>
          <a:prstGeom prst="ellipse">
            <a:avLst/>
          </a:prstGeom>
          <a:solidFill>
            <a:srgbClr val="E5ECF9"/>
          </a:solidFill>
          <a:ln>
            <a:solidFill>
              <a:srgbClr val="E5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50008" y="2487168"/>
            <a:ext cx="365760" cy="256032"/>
          </a:xfrm>
          <a:prstGeom prst="roundRect">
            <a:avLst/>
          </a:prstGeom>
          <a:solidFill>
            <a:srgbClr val="E5ECF9"/>
          </a:solidFill>
          <a:ln>
            <a:solidFill>
              <a:srgbClr val="E5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54096" y="2212848"/>
            <a:ext cx="274320" cy="274320"/>
          </a:xfrm>
          <a:prstGeom prst="ellipse">
            <a:avLst/>
          </a:prstGeom>
          <a:solidFill>
            <a:srgbClr val="E5ECF9"/>
          </a:solidFill>
          <a:ln>
            <a:solidFill>
              <a:srgbClr val="E5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08376" y="2487168"/>
            <a:ext cx="365760" cy="256032"/>
          </a:xfrm>
          <a:prstGeom prst="roundRect">
            <a:avLst/>
          </a:prstGeom>
          <a:solidFill>
            <a:srgbClr val="E5ECF9"/>
          </a:solidFill>
          <a:ln>
            <a:solidFill>
              <a:srgbClr val="E5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12463" y="2212848"/>
            <a:ext cx="274320" cy="274320"/>
          </a:xfrm>
          <a:prstGeom prst="ellipse">
            <a:avLst/>
          </a:prstGeom>
          <a:solidFill>
            <a:srgbClr val="E5ECF9"/>
          </a:solidFill>
          <a:ln>
            <a:solidFill>
              <a:srgbClr val="E5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66744" y="2487168"/>
            <a:ext cx="365760" cy="256032"/>
          </a:xfrm>
          <a:prstGeom prst="roundRect">
            <a:avLst/>
          </a:prstGeom>
          <a:solidFill>
            <a:srgbClr val="E5ECF9"/>
          </a:solidFill>
          <a:ln>
            <a:solidFill>
              <a:srgbClr val="E5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2770632"/>
            <a:ext cx="2926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B5C2DB"/>
                </a:solidFill>
                <a:latin typeface="Aptos"/>
              </a:rPr>
              <a:t>Customers</a:t>
            </a:r>
            <a:endParaRPr sz="1200" b="1">
              <a:solidFill>
                <a:srgbClr val="B5C2DB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993392" y="3182112"/>
            <a:ext cx="2057400" cy="713232"/>
          </a:xfrm>
          <a:prstGeom prst="roundRect">
            <a:avLst/>
          </a:prstGeom>
          <a:solidFill>
            <a:srgbClr val="182C50"/>
          </a:solidFill>
          <a:ln>
            <a:solidFill>
              <a:srgbClr val="354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93392" y="3182112"/>
            <a:ext cx="64008" cy="713232"/>
          </a:xfrm>
          <a:prstGeom prst="rect">
            <a:avLst/>
          </a:prstGeom>
          <a:solidFill>
            <a:srgbClr val="2E74FF"/>
          </a:solidFill>
          <a:ln>
            <a:solidFill>
              <a:srgbClr val="2E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39696" y="3255264"/>
            <a:ext cx="1828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8FAFF"/>
                </a:solidFill>
                <a:latin typeface="Aptos"/>
              </a:rPr>
              <a:t>Web Server</a:t>
            </a:r>
            <a:endParaRPr sz="1400" b="1">
              <a:solidFill>
                <a:srgbClr val="F8FAFF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39696" y="3538728"/>
            <a:ext cx="18288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B5C2DB"/>
                </a:solidFill>
                <a:latin typeface="Aptos"/>
              </a:rPr>
              <a:t>receives all requests</a:t>
            </a:r>
            <a:endParaRPr sz="950" b="0">
              <a:solidFill>
                <a:srgbClr val="B5C2DB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993392" y="4169663"/>
            <a:ext cx="2057400" cy="713232"/>
          </a:xfrm>
          <a:prstGeom prst="roundRect">
            <a:avLst/>
          </a:prstGeom>
          <a:solidFill>
            <a:srgbClr val="182C50"/>
          </a:solidFill>
          <a:ln>
            <a:solidFill>
              <a:srgbClr val="354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4169663"/>
            <a:ext cx="64008" cy="713232"/>
          </a:xfrm>
          <a:prstGeom prst="rect">
            <a:avLst/>
          </a:prstGeom>
          <a:solidFill>
            <a:srgbClr val="7E57FF"/>
          </a:solidFill>
          <a:ln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39696" y="4242816"/>
            <a:ext cx="1828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8FAFF"/>
                </a:solidFill>
                <a:latin typeface="Aptos"/>
              </a:rPr>
              <a:t>Application Server</a:t>
            </a:r>
            <a:endParaRPr sz="1400" b="1">
              <a:solidFill>
                <a:srgbClr val="F8FAFF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39696" y="4526279"/>
            <a:ext cx="18288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B5C2DB"/>
                </a:solidFill>
                <a:latin typeface="Aptos"/>
              </a:rPr>
              <a:t>synchronous processing</a:t>
            </a:r>
            <a:endParaRPr sz="950" b="0">
              <a:solidFill>
                <a:srgbClr val="B5C2DB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993392" y="5157216"/>
            <a:ext cx="2057400" cy="713232"/>
          </a:xfrm>
          <a:prstGeom prst="roundRect">
            <a:avLst/>
          </a:prstGeom>
          <a:solidFill>
            <a:srgbClr val="182C50"/>
          </a:solidFill>
          <a:ln>
            <a:solidFill>
              <a:srgbClr val="354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93392" y="5157216"/>
            <a:ext cx="64008" cy="713232"/>
          </a:xfrm>
          <a:prstGeom prst="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39696" y="5230368"/>
            <a:ext cx="1828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8FAFF"/>
                </a:solidFill>
                <a:latin typeface="Aptos"/>
              </a:rPr>
              <a:t>Database</a:t>
            </a:r>
            <a:endParaRPr sz="1400" b="1">
              <a:solidFill>
                <a:srgbClr val="F8FAFF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39696" y="5513831"/>
            <a:ext cx="18288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B5C2DB"/>
                </a:solidFill>
                <a:latin typeface="Aptos"/>
              </a:rPr>
              <a:t>single hot resource</a:t>
            </a:r>
            <a:endParaRPr sz="950" b="0">
              <a:solidFill>
                <a:srgbClr val="B5C2DB"/>
              </a:solidFill>
              <a:latin typeface="Aptos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3026664" y="2990088"/>
            <a:ext cx="0" cy="182880"/>
          </a:xfrm>
          <a:prstGeom prst="line">
            <a:avLst/>
          </a:prstGeom>
          <a:ln w="27940">
            <a:solidFill>
              <a:srgbClr val="B5C2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26664" y="3895344"/>
            <a:ext cx="0" cy="265176"/>
          </a:xfrm>
          <a:prstGeom prst="line">
            <a:avLst/>
          </a:prstGeom>
          <a:ln w="27940">
            <a:solidFill>
              <a:srgbClr val="B5C2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026664" y="4882896"/>
            <a:ext cx="0" cy="265176"/>
          </a:xfrm>
          <a:prstGeom prst="line">
            <a:avLst/>
          </a:prstGeom>
          <a:ln w="27940">
            <a:solidFill>
              <a:srgbClr val="B5C2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370832" y="2231136"/>
            <a:ext cx="932688" cy="329184"/>
          </a:xfrm>
          <a:prstGeom prst="round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70832" y="2231136"/>
            <a:ext cx="93268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F"/>
                </a:solidFill>
                <a:latin typeface="Aptos"/>
              </a:rPr>
              <a:t>FLASH SALE</a:t>
            </a:r>
            <a:endParaRPr sz="1000" b="1">
              <a:solidFill>
                <a:srgbClr val="F8FAFF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315968" y="2651760"/>
            <a:ext cx="1078992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8FAFF"/>
                </a:solidFill>
                <a:latin typeface="Aptos"/>
              </a:rPr>
              <a:t>50,000+
requests</a:t>
            </a:r>
            <a:endParaRPr sz="1200" b="1">
              <a:solidFill>
                <a:srgbClr val="F8FAFF"/>
              </a:solidFill>
              <a:latin typeface="Aptos"/>
            </a:endParaRPr>
          </a:p>
        </p:txBody>
      </p:sp>
      <p:cxnSp>
        <p:nvCxnSpPr>
          <p:cNvPr id="36" name="Connector 35"/>
          <p:cNvCxnSpPr/>
          <p:nvPr/>
        </p:nvCxnSpPr>
        <p:spPr>
          <a:xfrm flipH="1">
            <a:off x="4005072" y="3154680"/>
            <a:ext cx="347472" cy="301752"/>
          </a:xfrm>
          <a:prstGeom prst="line">
            <a:avLst/>
          </a:prstGeom>
          <a:ln w="3175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233672" y="5330952"/>
            <a:ext cx="1115568" cy="329184"/>
          </a:xfrm>
          <a:prstGeom prst="round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33672" y="5330952"/>
            <a:ext cx="111556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F"/>
                </a:solidFill>
                <a:latin typeface="Aptos"/>
              </a:rPr>
              <a:t>BOTTLENECK</a:t>
            </a:r>
            <a:endParaRPr sz="1000" b="1">
              <a:solidFill>
                <a:srgbClr val="F8FAFF"/>
              </a:solidFill>
              <a:latin typeface="Apto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016752" y="1664208"/>
            <a:ext cx="5394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8FAFF"/>
                </a:solidFill>
                <a:latin typeface="Aptos"/>
              </a:rPr>
              <a:t>Two failure modes appear at the same time</a:t>
            </a:r>
            <a:endParaRPr sz="1500" b="1">
              <a:solidFill>
                <a:srgbClr val="F8FAFF"/>
              </a:solidFill>
              <a:latin typeface="Aptos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016752" y="2084831"/>
            <a:ext cx="5468112" cy="1389888"/>
          </a:xfrm>
          <a:prstGeom prst="roundRect">
            <a:avLst/>
          </a:prstGeom>
          <a:solidFill>
            <a:srgbClr val="182C50"/>
          </a:solidFill>
          <a:ln>
            <a:solidFill>
              <a:srgbClr val="3D52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236208" y="2304288"/>
            <a:ext cx="438912" cy="329184"/>
          </a:xfrm>
          <a:prstGeom prst="round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36208" y="2304288"/>
            <a:ext cx="438912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F"/>
                </a:solidFill>
                <a:latin typeface="Aptos"/>
              </a:rPr>
              <a:t>01</a:t>
            </a:r>
            <a:endParaRPr sz="1000" b="1">
              <a:solidFill>
                <a:srgbClr val="F8FAFF"/>
              </a:solidFill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39712" y="2212848"/>
            <a:ext cx="420624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F8FAFF"/>
                </a:solidFill>
                <a:latin typeface="Aptos"/>
              </a:rPr>
              <a:t>Traffic spike → overload</a:t>
            </a:r>
            <a:endParaRPr sz="1600" b="1">
              <a:solidFill>
                <a:srgbClr val="F8FAFF"/>
              </a:solidFill>
              <a:latin typeface="Apto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839712" y="2580958"/>
            <a:ext cx="4700905" cy="59880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B5C2DB"/>
                </a:solidFill>
                <a:latin typeface="Aptos"/>
              </a:rPr>
              <a:t>Thousands of simultaneous reads and writes hit the same</a:t>
            </a:r>
            <a:endParaRPr sz="1100" b="0">
              <a:solidFill>
                <a:srgbClr val="B5C2DB"/>
              </a:solidFill>
              <a:latin typeface="Aptos"/>
            </a:endParaRPr>
          </a:p>
          <a:p>
            <a:pPr algn="l"/>
            <a:endParaRPr sz="1100" b="0">
              <a:solidFill>
                <a:srgbClr val="B5C2DB"/>
              </a:solidFill>
              <a:latin typeface="Aptos"/>
            </a:endParaRPr>
          </a:p>
          <a:p>
            <a:pPr algn="l"/>
            <a:r>
              <a:rPr sz="1100" b="0">
                <a:solidFill>
                  <a:srgbClr val="B5C2DB"/>
                </a:solidFill>
                <a:latin typeface="Aptos"/>
              </a:rPr>
              <a:t> server and database, increasing latency, timeouts, and failure risk.</a:t>
            </a:r>
            <a:endParaRPr sz="1100" b="0">
              <a:solidFill>
                <a:srgbClr val="B5C2DB"/>
              </a:solidFill>
              <a:latin typeface="Aptos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6016752" y="3675887"/>
            <a:ext cx="5468112" cy="2450592"/>
          </a:xfrm>
          <a:prstGeom prst="roundRect">
            <a:avLst/>
          </a:prstGeom>
          <a:solidFill>
            <a:srgbClr val="182C50"/>
          </a:solidFill>
          <a:ln>
            <a:solidFill>
              <a:srgbClr val="3D52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236208" y="3904487"/>
            <a:ext cx="438912" cy="329184"/>
          </a:xfrm>
          <a:prstGeom prst="round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36208" y="3904487"/>
            <a:ext cx="438912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F"/>
                </a:solidFill>
                <a:latin typeface="Aptos"/>
              </a:rPr>
              <a:t>02</a:t>
            </a:r>
            <a:endParaRPr sz="1000" b="1">
              <a:solidFill>
                <a:srgbClr val="F8FAFF"/>
              </a:solidFill>
              <a:latin typeface="Apto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839712" y="3813048"/>
            <a:ext cx="42976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F8FAFF"/>
                </a:solidFill>
                <a:latin typeface="Aptos"/>
              </a:rPr>
              <a:t>Race condition → overselling</a:t>
            </a:r>
            <a:endParaRPr sz="1600" b="1">
              <a:solidFill>
                <a:srgbClr val="F8FAFF"/>
              </a:solidFill>
              <a:latin typeface="Apto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473952" y="4315968"/>
            <a:ext cx="1600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E5ECF9"/>
                </a:solidFill>
                <a:latin typeface="Aptos"/>
              </a:rPr>
              <a:t>Last ticket: A105</a:t>
            </a:r>
            <a:endParaRPr sz="1100" b="1">
              <a:solidFill>
                <a:srgbClr val="E5ECF9"/>
              </a:solidFill>
              <a:latin typeface="Aptos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601968" y="4663440"/>
            <a:ext cx="1325880" cy="566928"/>
          </a:xfrm>
          <a:prstGeom prst="roundRect">
            <a:avLst/>
          </a:prstGeom>
          <a:solidFill>
            <a:srgbClr val="162A4E"/>
          </a:solidFill>
          <a:ln>
            <a:solidFill>
              <a:srgbClr val="526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01968" y="4663440"/>
            <a:ext cx="13258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F"/>
                </a:solidFill>
                <a:latin typeface="Aptos"/>
              </a:rPr>
              <a:t>User A
sees AVAILABLE</a:t>
            </a:r>
            <a:endParaRPr sz="1000" b="1">
              <a:solidFill>
                <a:srgbClr val="F8FAFF"/>
              </a:solidFill>
              <a:latin typeface="Aptos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9528048" y="4663440"/>
            <a:ext cx="1325880" cy="566928"/>
          </a:xfrm>
          <a:prstGeom prst="roundRect">
            <a:avLst/>
          </a:prstGeom>
          <a:solidFill>
            <a:srgbClr val="162A4E"/>
          </a:solidFill>
          <a:ln>
            <a:solidFill>
              <a:srgbClr val="526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28048" y="4663440"/>
            <a:ext cx="13258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F"/>
                </a:solidFill>
                <a:latin typeface="Aptos"/>
              </a:rPr>
              <a:t>User B
sees AVAILABLE</a:t>
            </a:r>
            <a:endParaRPr sz="1000" b="1">
              <a:solidFill>
                <a:srgbClr val="F8FAFF"/>
              </a:solidFill>
              <a:latin typeface="Aptos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8183879" y="5422392"/>
            <a:ext cx="1207008" cy="475488"/>
          </a:xfrm>
          <a:prstGeom prst="round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83879" y="5422392"/>
            <a:ext cx="120700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8FAFF"/>
                </a:solidFill>
                <a:latin typeface="Aptos"/>
              </a:rPr>
              <a:t>OVERSOLD</a:t>
            </a:r>
            <a:endParaRPr sz="1100" b="1">
              <a:solidFill>
                <a:srgbClr val="F8FAFF"/>
              </a:solidFill>
              <a:latin typeface="Aptos"/>
            </a:endParaRPr>
          </a:p>
        </p:txBody>
      </p:sp>
      <p:cxnSp>
        <p:nvCxnSpPr>
          <p:cNvPr id="56" name="Connector 55"/>
          <p:cNvCxnSpPr/>
          <p:nvPr/>
        </p:nvCxnSpPr>
        <p:spPr>
          <a:xfrm>
            <a:off x="7315200" y="5239512"/>
            <a:ext cx="1078992" cy="192024"/>
          </a:xfrm>
          <a:prstGeom prst="line">
            <a:avLst/>
          </a:prstGeom>
          <a:ln w="2667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9189720" y="5239512"/>
            <a:ext cx="978408" cy="192024"/>
          </a:xfrm>
          <a:prstGeom prst="line">
            <a:avLst/>
          </a:prstGeom>
          <a:ln w="2667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446520" y="5870448"/>
            <a:ext cx="4572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0">
                <a:solidFill>
                  <a:srgbClr val="B5C2DB"/>
                </a:solidFill>
                <a:latin typeface="Aptos"/>
              </a:rPr>
              <a:t>Both transactions can read the same state before either update is committed.</a:t>
            </a:r>
            <a:endParaRPr sz="950" b="0">
              <a:solidFill>
                <a:srgbClr val="B5C2D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443230"/>
            <a:ext cx="1097280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F"/>
                </a:solidFill>
                <a:latin typeface="Aptos"/>
              </a:rPr>
              <a:t>Proposed Scalable Architecture</a:t>
            </a:r>
            <a:endParaRPr sz="2500" b="1">
              <a:solidFill>
                <a:srgbClr val="F8FA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42415"/>
            <a:ext cx="109728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B5C2DB"/>
                </a:solidFill>
                <a:latin typeface="Aptos"/>
              </a:rPr>
              <a:t>Separate read traffic, absorb bursty booking demand, and protect each ticket during the final transaction.</a:t>
            </a:r>
            <a:endParaRPr sz="1150" b="0">
              <a:solidFill>
                <a:srgbClr val="B5C2DB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7818120" cy="4553712"/>
          </a:xfrm>
          <a:prstGeom prst="roundRect">
            <a:avLst/>
          </a:prstGeom>
          <a:solidFill>
            <a:srgbClr val="162A4E"/>
          </a:solidFill>
          <a:ln>
            <a:solidFill>
              <a:srgbClr val="2E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64792"/>
            <a:ext cx="21945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E5ECF9"/>
                </a:solidFill>
                <a:latin typeface="Aptos"/>
              </a:rPr>
              <a:t>PROPOSED FLOW</a:t>
            </a:r>
            <a:endParaRPr sz="1100" b="1">
              <a:solidFill>
                <a:srgbClr val="E5ECF9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68680" y="2267712"/>
            <a:ext cx="1508760" cy="676656"/>
          </a:xfrm>
          <a:prstGeom prst="roundRect">
            <a:avLst/>
          </a:prstGeom>
          <a:solidFill>
            <a:srgbClr val="182C50"/>
          </a:solidFill>
          <a:ln>
            <a:solidFill>
              <a:srgbClr val="354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2267712"/>
            <a:ext cx="64008" cy="676656"/>
          </a:xfrm>
          <a:prstGeom prst="rect">
            <a:avLst/>
          </a:prstGeom>
          <a:solidFill>
            <a:srgbClr val="3CC9FF"/>
          </a:solidFill>
          <a:ln>
            <a:solidFill>
              <a:srgbClr val="3C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3" y="2340864"/>
            <a:ext cx="12801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8FAFF"/>
                </a:solidFill>
                <a:latin typeface="Aptos"/>
              </a:rPr>
              <a:t>Customers</a:t>
            </a:r>
            <a:endParaRPr sz="1400" b="1">
              <a:solidFill>
                <a:srgbClr val="F8FA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14983" y="2624328"/>
            <a:ext cx="128016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B5C2DB"/>
                </a:solidFill>
                <a:latin typeface="Aptos"/>
              </a:rPr>
              <a:t>browse + book</a:t>
            </a:r>
            <a:endParaRPr sz="950" b="0">
              <a:solidFill>
                <a:srgbClr val="B5C2DB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907792" y="2267712"/>
            <a:ext cx="1572768" cy="676656"/>
          </a:xfrm>
          <a:prstGeom prst="roundRect">
            <a:avLst/>
          </a:prstGeom>
          <a:solidFill>
            <a:srgbClr val="182C50"/>
          </a:solidFill>
          <a:ln>
            <a:solidFill>
              <a:srgbClr val="354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07792" y="2267712"/>
            <a:ext cx="64008" cy="676656"/>
          </a:xfrm>
          <a:prstGeom prst="rect">
            <a:avLst/>
          </a:prstGeom>
          <a:solidFill>
            <a:srgbClr val="2E74FF"/>
          </a:solidFill>
          <a:ln>
            <a:solidFill>
              <a:srgbClr val="2E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54096" y="2340864"/>
            <a:ext cx="1344168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8FAFF"/>
                </a:solidFill>
                <a:latin typeface="Aptos"/>
              </a:rPr>
              <a:t>API Gateway</a:t>
            </a:r>
            <a:endParaRPr sz="1400" b="1">
              <a:solidFill>
                <a:srgbClr val="F8FA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54096" y="2624328"/>
            <a:ext cx="1344168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B5C2DB"/>
                </a:solidFill>
                <a:latin typeface="Aptos"/>
              </a:rPr>
              <a:t>single entry point</a:t>
            </a:r>
            <a:endParaRPr sz="950" b="0">
              <a:solidFill>
                <a:srgbClr val="B5C2DB"/>
              </a:solidFill>
              <a:latin typeface="Aptos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2386584" y="2606040"/>
            <a:ext cx="512064" cy="0"/>
          </a:xfrm>
          <a:prstGeom prst="line">
            <a:avLst/>
          </a:prstGeom>
          <a:ln w="27940">
            <a:solidFill>
              <a:srgbClr val="B5C2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48072" y="1874519"/>
            <a:ext cx="1627632" cy="676656"/>
          </a:xfrm>
          <a:prstGeom prst="roundRect">
            <a:avLst/>
          </a:prstGeom>
          <a:solidFill>
            <a:srgbClr val="182C50"/>
          </a:solidFill>
          <a:ln>
            <a:solidFill>
              <a:srgbClr val="354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48072" y="1874519"/>
            <a:ext cx="64008" cy="676656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94376" y="1947672"/>
            <a:ext cx="139903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8FAFF"/>
                </a:solidFill>
                <a:latin typeface="Aptos"/>
              </a:rPr>
              <a:t>Redis Cache</a:t>
            </a:r>
            <a:endParaRPr sz="1400" b="1">
              <a:solidFill>
                <a:srgbClr val="F8FAFF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94376" y="2231136"/>
            <a:ext cx="1399032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B5C2DB"/>
                </a:solidFill>
                <a:latin typeface="Aptos"/>
              </a:rPr>
              <a:t>event &amp; ticket reads</a:t>
            </a:r>
            <a:endParaRPr sz="950" b="0">
              <a:solidFill>
                <a:srgbClr val="B5C2DB"/>
              </a:solidFill>
              <a:latin typeface="Aptos"/>
            </a:endParaRPr>
          </a:p>
        </p:txBody>
      </p:sp>
      <p:cxnSp>
        <p:nvCxnSpPr>
          <p:cNvPr id="20" name="Connector 19"/>
          <p:cNvCxnSpPr/>
          <p:nvPr/>
        </p:nvCxnSpPr>
        <p:spPr>
          <a:xfrm flipV="1">
            <a:off x="4480560" y="2212848"/>
            <a:ext cx="658368" cy="274320"/>
          </a:xfrm>
          <a:prstGeom prst="line">
            <a:avLst/>
          </a:prstGeom>
          <a:ln w="27940">
            <a:solidFill>
              <a:srgbClr val="B5C2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931152" y="2020824"/>
            <a:ext cx="868680" cy="329184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31152" y="2020824"/>
            <a:ext cx="86868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F"/>
                </a:solidFill>
                <a:latin typeface="Aptos"/>
              </a:rPr>
              <a:t>READ PATH</a:t>
            </a:r>
            <a:endParaRPr sz="1000" b="1">
              <a:solidFill>
                <a:srgbClr val="F8FAFF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693662" y="2395728"/>
            <a:ext cx="1261872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30" b="0">
                <a:solidFill>
                  <a:srgbClr val="B5C2DB"/>
                </a:solidFill>
                <a:latin typeface="Aptos"/>
              </a:rPr>
              <a:t>Cache hit → fast response
Cache miss → load from DB</a:t>
            </a:r>
            <a:endParaRPr sz="930" b="0">
              <a:solidFill>
                <a:srgbClr val="B5C2DB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148072" y="3154680"/>
            <a:ext cx="1627632" cy="676656"/>
          </a:xfrm>
          <a:prstGeom prst="roundRect">
            <a:avLst/>
          </a:prstGeom>
          <a:solidFill>
            <a:srgbClr val="182C50"/>
          </a:solidFill>
          <a:ln>
            <a:solidFill>
              <a:srgbClr val="354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48072" y="3154680"/>
            <a:ext cx="64008" cy="676656"/>
          </a:xfrm>
          <a:prstGeom prst="rect">
            <a:avLst/>
          </a:prstGeom>
          <a:solidFill>
            <a:srgbClr val="7E57FF"/>
          </a:solidFill>
          <a:ln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94376" y="3227832"/>
            <a:ext cx="139903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8FAFF"/>
                </a:solidFill>
                <a:latin typeface="Aptos"/>
              </a:rPr>
              <a:t>Message Queue</a:t>
            </a:r>
            <a:endParaRPr sz="1400" b="1">
              <a:solidFill>
                <a:srgbClr val="F8FAFF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294376" y="3511296"/>
            <a:ext cx="1399032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B5C2DB"/>
                </a:solidFill>
                <a:latin typeface="Aptos"/>
              </a:rPr>
              <a:t>buffers booking burst</a:t>
            </a:r>
            <a:endParaRPr sz="950" b="0">
              <a:solidFill>
                <a:srgbClr val="B5C2DB"/>
              </a:solidFill>
              <a:latin typeface="Aptos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4480560" y="2734056"/>
            <a:ext cx="658368" cy="758952"/>
          </a:xfrm>
          <a:prstGeom prst="line">
            <a:avLst/>
          </a:prstGeom>
          <a:ln w="27940">
            <a:solidFill>
              <a:srgbClr val="B5C2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410712" y="4261104"/>
            <a:ext cx="1572768" cy="676656"/>
          </a:xfrm>
          <a:prstGeom prst="roundRect">
            <a:avLst/>
          </a:prstGeom>
          <a:solidFill>
            <a:srgbClr val="182C50"/>
          </a:solidFill>
          <a:ln>
            <a:solidFill>
              <a:srgbClr val="354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10712" y="4261104"/>
            <a:ext cx="64008" cy="676656"/>
          </a:xfrm>
          <a:prstGeom prst="rect">
            <a:avLst/>
          </a:prstGeom>
          <a:solidFill>
            <a:srgbClr val="7E57FF"/>
          </a:solidFill>
          <a:ln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57016" y="4334256"/>
            <a:ext cx="1344168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8FAFF"/>
                </a:solidFill>
                <a:latin typeface="Aptos"/>
              </a:rPr>
              <a:t>Workers</a:t>
            </a:r>
            <a:endParaRPr sz="1400" b="1">
              <a:solidFill>
                <a:srgbClr val="F8FAFF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557016" y="4617720"/>
            <a:ext cx="1344168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B5C2DB"/>
                </a:solidFill>
                <a:latin typeface="Aptos"/>
              </a:rPr>
              <a:t>controlled processing</a:t>
            </a:r>
            <a:endParaRPr sz="950" b="0">
              <a:solidFill>
                <a:srgbClr val="B5C2DB"/>
              </a:solidFill>
              <a:latin typeface="Aptos"/>
            </a:endParaRPr>
          </a:p>
        </p:txBody>
      </p:sp>
      <p:cxnSp>
        <p:nvCxnSpPr>
          <p:cNvPr id="33" name="Connector 32"/>
          <p:cNvCxnSpPr/>
          <p:nvPr/>
        </p:nvCxnSpPr>
        <p:spPr>
          <a:xfrm flipH="1">
            <a:off x="4965192" y="3831336"/>
            <a:ext cx="777240" cy="502920"/>
          </a:xfrm>
          <a:prstGeom prst="line">
            <a:avLst/>
          </a:prstGeom>
          <a:ln w="27940">
            <a:solidFill>
              <a:srgbClr val="B5C2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468112" y="4261104"/>
            <a:ext cx="1664208" cy="676656"/>
          </a:xfrm>
          <a:prstGeom prst="roundRect">
            <a:avLst/>
          </a:prstGeom>
          <a:solidFill>
            <a:srgbClr val="182C50"/>
          </a:solidFill>
          <a:ln>
            <a:solidFill>
              <a:srgbClr val="354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68112" y="4261104"/>
            <a:ext cx="64008" cy="676656"/>
          </a:xfrm>
          <a:prstGeom prst="rect">
            <a:avLst/>
          </a:prstGeom>
          <a:solidFill>
            <a:srgbClr val="2E74FF"/>
          </a:solidFill>
          <a:ln>
            <a:solidFill>
              <a:srgbClr val="2E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14416" y="4334256"/>
            <a:ext cx="1435608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8FAFF"/>
                </a:solidFill>
                <a:latin typeface="Aptos"/>
              </a:rPr>
              <a:t>Booking Service</a:t>
            </a:r>
            <a:endParaRPr sz="1400" b="1">
              <a:solidFill>
                <a:srgbClr val="F8FAFF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614416" y="4617720"/>
            <a:ext cx="1435608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B5C2DB"/>
                </a:solidFill>
                <a:latin typeface="Aptos"/>
              </a:rPr>
              <a:t>reserve + validate</a:t>
            </a:r>
            <a:endParaRPr sz="950" b="0">
              <a:solidFill>
                <a:srgbClr val="B5C2DB"/>
              </a:solidFill>
              <a:latin typeface="Aptos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4992624" y="4599432"/>
            <a:ext cx="466344" cy="0"/>
          </a:xfrm>
          <a:prstGeom prst="line">
            <a:avLst/>
          </a:prstGeom>
          <a:ln w="27940">
            <a:solidFill>
              <a:srgbClr val="B5C2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3410712" y="5230368"/>
            <a:ext cx="1572768" cy="676656"/>
          </a:xfrm>
          <a:prstGeom prst="roundRect">
            <a:avLst/>
          </a:prstGeom>
          <a:solidFill>
            <a:srgbClr val="182C50"/>
          </a:solidFill>
          <a:ln>
            <a:solidFill>
              <a:srgbClr val="354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10712" y="5230368"/>
            <a:ext cx="64008" cy="676656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57016" y="5303520"/>
            <a:ext cx="1344168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8FAFF"/>
                </a:solidFill>
                <a:latin typeface="Aptos"/>
              </a:rPr>
              <a:t>Ticket Lock</a:t>
            </a:r>
            <a:endParaRPr sz="1400" b="1">
              <a:solidFill>
                <a:srgbClr val="F8FAFF"/>
              </a:solidFill>
              <a:latin typeface="Apto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557016" y="5586983"/>
            <a:ext cx="1344168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B5C2DB"/>
                </a:solidFill>
                <a:latin typeface="Aptos"/>
              </a:rPr>
              <a:t>atomic reservation</a:t>
            </a:r>
            <a:endParaRPr sz="950" b="0">
              <a:solidFill>
                <a:srgbClr val="B5C2DB"/>
              </a:solidFill>
              <a:latin typeface="Aptos"/>
            </a:endParaRPr>
          </a:p>
        </p:txBody>
      </p:sp>
      <p:cxnSp>
        <p:nvCxnSpPr>
          <p:cNvPr id="43" name="Connector 42"/>
          <p:cNvCxnSpPr/>
          <p:nvPr/>
        </p:nvCxnSpPr>
        <p:spPr>
          <a:xfrm flipH="1">
            <a:off x="4974336" y="4946904"/>
            <a:ext cx="896112" cy="438912"/>
          </a:xfrm>
          <a:prstGeom prst="line">
            <a:avLst/>
          </a:prstGeom>
          <a:ln w="27940">
            <a:solidFill>
              <a:srgbClr val="B5C2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5513832" y="5230368"/>
            <a:ext cx="1572768" cy="676656"/>
          </a:xfrm>
          <a:prstGeom prst="roundRect">
            <a:avLst/>
          </a:prstGeom>
          <a:solidFill>
            <a:srgbClr val="182C50"/>
          </a:solidFill>
          <a:ln>
            <a:solidFill>
              <a:srgbClr val="354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513832" y="5230368"/>
            <a:ext cx="64008" cy="676656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0136" y="5303520"/>
            <a:ext cx="1344168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8FAFF"/>
                </a:solidFill>
                <a:latin typeface="Aptos"/>
              </a:rPr>
              <a:t>Database</a:t>
            </a:r>
            <a:endParaRPr sz="1400" b="1">
              <a:solidFill>
                <a:srgbClr val="F8FAFF"/>
              </a:solidFill>
              <a:latin typeface="Apto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660136" y="5586983"/>
            <a:ext cx="1344168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B5C2DB"/>
                </a:solidFill>
                <a:latin typeface="Aptos"/>
              </a:rPr>
              <a:t>source of truth</a:t>
            </a:r>
            <a:endParaRPr sz="950" b="0">
              <a:solidFill>
                <a:srgbClr val="B5C2DB"/>
              </a:solidFill>
              <a:latin typeface="Aptos"/>
            </a:endParaRPr>
          </a:p>
        </p:txBody>
      </p:sp>
      <p:cxnSp>
        <p:nvCxnSpPr>
          <p:cNvPr id="48" name="Connector 47"/>
          <p:cNvCxnSpPr/>
          <p:nvPr/>
        </p:nvCxnSpPr>
        <p:spPr>
          <a:xfrm>
            <a:off x="4992624" y="5568696"/>
            <a:ext cx="512064" cy="0"/>
          </a:xfrm>
          <a:prstGeom prst="line">
            <a:avLst/>
          </a:prstGeom>
          <a:ln w="27940">
            <a:solidFill>
              <a:srgbClr val="B5C2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961888" y="2560320"/>
            <a:ext cx="292608" cy="2651760"/>
          </a:xfrm>
          <a:prstGeom prst="line">
            <a:avLst/>
          </a:prstGeom>
          <a:ln w="19050">
            <a:solidFill>
              <a:srgbClr val="5A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723376" y="1664208"/>
            <a:ext cx="2834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8FAFF"/>
                </a:solidFill>
                <a:latin typeface="Aptos"/>
              </a:rPr>
              <a:t>Why this architecture works</a:t>
            </a:r>
            <a:endParaRPr sz="1500" b="1">
              <a:solidFill>
                <a:srgbClr val="F8FAFF"/>
              </a:solidFill>
              <a:latin typeface="Aptos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8668512" y="2084831"/>
            <a:ext cx="2944368" cy="1115568"/>
          </a:xfrm>
          <a:prstGeom prst="roundRect">
            <a:avLst/>
          </a:prstGeom>
          <a:solidFill>
            <a:srgbClr val="182C50"/>
          </a:solidFill>
          <a:ln>
            <a:solidFill>
              <a:srgbClr val="3D52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869680" y="2249424"/>
            <a:ext cx="411480" cy="329184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69680" y="2249424"/>
            <a:ext cx="41148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F"/>
                </a:solidFill>
                <a:latin typeface="Aptos"/>
              </a:rPr>
              <a:t>01</a:t>
            </a:r>
            <a:endParaRPr sz="1000" b="1">
              <a:solidFill>
                <a:srgbClr val="F8FAFF"/>
              </a:solidFill>
              <a:latin typeface="Apto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418320" y="2203703"/>
            <a:ext cx="1965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20" b="1">
                <a:solidFill>
                  <a:srgbClr val="F8FAFF"/>
                </a:solidFill>
                <a:latin typeface="Aptos"/>
              </a:rPr>
              <a:t>Cache-Aside</a:t>
            </a:r>
            <a:endParaRPr sz="1320" b="1">
              <a:solidFill>
                <a:srgbClr val="F8FAFF"/>
              </a:solidFill>
              <a:latin typeface="Apto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846185" y="2570987"/>
            <a:ext cx="2693670" cy="3733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20" b="0">
                <a:solidFill>
                  <a:srgbClr val="B5C2DB"/>
                </a:solidFill>
                <a:latin typeface="Aptos"/>
              </a:rPr>
              <a:t>Repeated event and ticket reads are served </a:t>
            </a:r>
            <a:endParaRPr sz="920" b="0">
              <a:solidFill>
                <a:srgbClr val="B5C2DB"/>
              </a:solidFill>
              <a:latin typeface="Aptos"/>
            </a:endParaRPr>
          </a:p>
          <a:p>
            <a:pPr algn="l"/>
            <a:r>
              <a:rPr sz="920" b="0">
                <a:solidFill>
                  <a:srgbClr val="B5C2DB"/>
                </a:solidFill>
                <a:latin typeface="Aptos"/>
              </a:rPr>
              <a:t>from cache.</a:t>
            </a:r>
            <a:endParaRPr sz="920" b="0">
              <a:solidFill>
                <a:srgbClr val="B5C2DB"/>
              </a:solidFill>
              <a:latin typeface="Apto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869680" y="2916936"/>
            <a:ext cx="248716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1">
                <a:solidFill>
                  <a:srgbClr val="27AE60"/>
                </a:solidFill>
                <a:latin typeface="Aptos"/>
              </a:rPr>
              <a:t>↓ DB READS  •  ↓ LATENCY</a:t>
            </a:r>
            <a:endParaRPr sz="880" b="1">
              <a:solidFill>
                <a:srgbClr val="27AE60"/>
              </a:solidFill>
              <a:latin typeface="Aptos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8668512" y="3346703"/>
            <a:ext cx="2944368" cy="1115568"/>
          </a:xfrm>
          <a:prstGeom prst="roundRect">
            <a:avLst/>
          </a:prstGeom>
          <a:solidFill>
            <a:srgbClr val="182C50"/>
          </a:solidFill>
          <a:ln>
            <a:solidFill>
              <a:srgbClr val="3D52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869680" y="3511296"/>
            <a:ext cx="411480" cy="329184"/>
          </a:xfrm>
          <a:prstGeom prst="roundRect">
            <a:avLst/>
          </a:prstGeom>
          <a:solidFill>
            <a:srgbClr val="7E57FF"/>
          </a:solidFill>
          <a:ln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869680" y="3511296"/>
            <a:ext cx="41148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F"/>
                </a:solidFill>
                <a:latin typeface="Aptos"/>
              </a:rPr>
              <a:t>02</a:t>
            </a:r>
            <a:endParaRPr sz="1000" b="1">
              <a:solidFill>
                <a:srgbClr val="F8FAFF"/>
              </a:solidFill>
              <a:latin typeface="Apto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418320" y="3465575"/>
            <a:ext cx="1965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20" b="1">
                <a:solidFill>
                  <a:srgbClr val="F8FAFF"/>
                </a:solidFill>
                <a:latin typeface="Aptos"/>
              </a:rPr>
              <a:t>Queue-Based Load Leveling</a:t>
            </a:r>
            <a:endParaRPr sz="1320" b="1">
              <a:solidFill>
                <a:srgbClr val="F8FAFF"/>
              </a:solidFill>
              <a:latin typeface="Apto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869680" y="3790949"/>
            <a:ext cx="2409825" cy="3733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20" b="0">
                <a:solidFill>
                  <a:srgbClr val="B5C2DB"/>
                </a:solidFill>
                <a:latin typeface="Aptos"/>
              </a:rPr>
              <a:t>Booking bursts wait in a queue and are </a:t>
            </a:r>
            <a:endParaRPr sz="920" b="0">
              <a:solidFill>
                <a:srgbClr val="B5C2DB"/>
              </a:solidFill>
              <a:latin typeface="Aptos"/>
            </a:endParaRPr>
          </a:p>
          <a:p>
            <a:pPr algn="l"/>
            <a:r>
              <a:rPr sz="920" b="0">
                <a:solidFill>
                  <a:srgbClr val="B5C2DB"/>
                </a:solidFill>
                <a:latin typeface="Aptos"/>
              </a:rPr>
              <a:t>processed at a safe rate.</a:t>
            </a:r>
            <a:endParaRPr sz="920" b="0">
              <a:solidFill>
                <a:srgbClr val="B5C2DB"/>
              </a:solidFill>
              <a:latin typeface="Apto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869680" y="4178807"/>
            <a:ext cx="248716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1">
                <a:solidFill>
                  <a:srgbClr val="7E57FF"/>
                </a:solidFill>
                <a:latin typeface="Aptos"/>
              </a:rPr>
              <a:t>ABSORBS TRAFFIC SPIKES</a:t>
            </a:r>
            <a:endParaRPr sz="880" b="1">
              <a:solidFill>
                <a:srgbClr val="7E57FF"/>
              </a:solidFill>
              <a:latin typeface="Aptos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8668512" y="4608575"/>
            <a:ext cx="2944368" cy="1115568"/>
          </a:xfrm>
          <a:prstGeom prst="roundRect">
            <a:avLst/>
          </a:prstGeom>
          <a:solidFill>
            <a:srgbClr val="182C50"/>
          </a:solidFill>
          <a:ln>
            <a:solidFill>
              <a:srgbClr val="3D52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869680" y="4773167"/>
            <a:ext cx="411480" cy="329184"/>
          </a:xfrm>
          <a:prstGeom prst="round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869680" y="4773167"/>
            <a:ext cx="41148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F"/>
                </a:solidFill>
                <a:latin typeface="Aptos"/>
              </a:rPr>
              <a:t>03</a:t>
            </a:r>
            <a:endParaRPr sz="1000" b="1">
              <a:solidFill>
                <a:srgbClr val="F8FAFF"/>
              </a:solidFill>
              <a:latin typeface="Apto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418320" y="4727447"/>
            <a:ext cx="1965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20" b="1">
                <a:solidFill>
                  <a:srgbClr val="F8FAFF"/>
                </a:solidFill>
                <a:latin typeface="Aptos"/>
              </a:rPr>
              <a:t>Concurrency Control</a:t>
            </a:r>
            <a:endParaRPr sz="1320" b="1">
              <a:solidFill>
                <a:srgbClr val="F8FAFF"/>
              </a:solidFill>
              <a:latin typeface="Aptos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869680" y="5052821"/>
            <a:ext cx="2433320" cy="3733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20" b="0">
                <a:solidFill>
                  <a:srgbClr val="B5C2DB"/>
                </a:solidFill>
                <a:latin typeface="Aptos"/>
              </a:rPr>
              <a:t>A ticket is locked / atomically reserved </a:t>
            </a:r>
            <a:endParaRPr sz="920" b="0">
              <a:solidFill>
                <a:srgbClr val="B5C2DB"/>
              </a:solidFill>
              <a:latin typeface="Aptos"/>
            </a:endParaRPr>
          </a:p>
          <a:p>
            <a:pPr algn="l"/>
            <a:r>
              <a:rPr sz="920" b="0">
                <a:solidFill>
                  <a:srgbClr val="B5C2DB"/>
                </a:solidFill>
                <a:latin typeface="Aptos"/>
              </a:rPr>
              <a:t>during purchase.</a:t>
            </a:r>
            <a:endParaRPr sz="920" b="0">
              <a:solidFill>
                <a:srgbClr val="B5C2DB"/>
              </a:solidFill>
              <a:latin typeface="Aptos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869680" y="5440679"/>
            <a:ext cx="248716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1">
                <a:solidFill>
                  <a:srgbClr val="F5A623"/>
                </a:solidFill>
                <a:latin typeface="Aptos"/>
              </a:rPr>
              <a:t>PREVENTS DOUBLE BOOKING</a:t>
            </a:r>
            <a:endParaRPr sz="880" b="1">
              <a:solidFill>
                <a:srgbClr val="F5A623"/>
              </a:solidFill>
              <a:latin typeface="Aptos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8668512" y="5888736"/>
            <a:ext cx="2944368" cy="347472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68512" y="5888736"/>
            <a:ext cx="294436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20" b="1">
                <a:solidFill>
                  <a:srgbClr val="F8FAFF"/>
                </a:solidFill>
                <a:latin typeface="Aptos"/>
              </a:rPr>
              <a:t>EXPECTED: scalable • responsive • consistent</a:t>
            </a:r>
            <a:endParaRPr sz="920" b="1">
              <a:solidFill>
                <a:srgbClr val="F8FAFF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1511</Words>
  <Application>WPS 演示</Application>
  <PresentationFormat>On-screen Show (4:3)</PresentationFormat>
  <Paragraphs>123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8" baseType="lpstr">
      <vt:lpstr>Arial</vt:lpstr>
      <vt:lpstr>宋体</vt:lpstr>
      <vt:lpstr>Wingdings</vt:lpstr>
      <vt:lpstr>Arial</vt:lpstr>
      <vt:lpstr>Aptos</vt:lpstr>
      <vt:lpstr>Thonburi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Aptos</vt:lpstr>
      <vt:lpstr>苹方-简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卍</cp:lastModifiedBy>
  <cp:revision>4</cp:revision>
  <dcterms:created xsi:type="dcterms:W3CDTF">2026-09-28T17:56:16Z</dcterms:created>
  <dcterms:modified xsi:type="dcterms:W3CDTF">2026-09-28T17:56:16Z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7B8D175A327852F7ABA9BA6A6640CFBD_42</vt:lpwstr>
  </property>
  <property fmtid="{D5CDD505-2E9C-101B-9397-08002B2CF9AE}" pid="3" name="KSOProductBuildVer">
    <vt:lpwstr>2052-6.14.0.8924</vt:lpwstr>
  </property>
</Properties>
</file>